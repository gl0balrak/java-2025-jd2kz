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76" r:id="rId11"/>
    <p:sldId id="266" r:id="rId12"/>
    <p:sldId id="277" r:id="rId13"/>
    <p:sldId id="278" r:id="rId14"/>
    <p:sldId id="279" r:id="rId15"/>
    <p:sldId id="280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58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B1B2A-0382-4044-9636-82177EEBE3B4}" v="16" dt="2025-12-06T08:43:24.327"/>
    <p1510:client id="{3C7D9F83-FDA4-4FE0-AF9A-B62D782651FF}" v="2548" dt="2025-12-05T08:10:51.668"/>
    <p1510:client id="{7C1DE9F8-EE3F-4207-947A-118BFB6FC5B9}" v="264" dt="2025-12-05T12:17:42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91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2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97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0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633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35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2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8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3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80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68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97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otus/articles/776342/" TargetMode="External"/><Relationship Id="rId2" Type="http://schemas.openxmlformats.org/officeDocument/2006/relationships/hyperlink" Target="https://habr.com/ru/companies/otus/articles/553996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varush.com/quests/lectures/questservlets.level18.lecture05" TargetMode="External"/><Relationship Id="rId4" Type="http://schemas.openxmlformats.org/officeDocument/2006/relationships/hyperlink" Target="https://javarush.com/groups/posts/4075-kofe-breyk-210-vse-tipih-sborjshikov-musora-v-java-o-kotorihkh-vih-dolzhnih-znatj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Сборщик мусора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Куценко Артём, Герасимов Илья</a:t>
            </a:r>
          </a:p>
          <a:p>
            <a:r>
              <a:rPr lang="ru-RU" dirty="0"/>
              <a:t>5030102/30401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47CD1-BD40-A855-CF44-AD5264F4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такое мусор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78A9F3-77C2-5C41-7DC4-3EC3A19C8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Мусор - это объект в памяти программы, который больше не может быть достигнут по ссылке.</a:t>
            </a:r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6076F6-ECFE-4953-77F4-36CDD4FB1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95" y="2980553"/>
            <a:ext cx="8844605" cy="310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6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B7ACA-DF1B-7382-4FDF-9223EB32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Структура памяти Java</a:t>
            </a:r>
            <a:endParaRPr lang="ru-RU"/>
          </a:p>
        </p:txBody>
      </p:sp>
      <p:pic>
        <p:nvPicPr>
          <p:cNvPr id="4" name="Объект 3" descr="Изображение выглядит как текст, снимок экрана, Прямоугольник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48F686-329B-EFEB-2615-99BC708D1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250" y="1516706"/>
            <a:ext cx="8685500" cy="464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8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56C1E-0240-DA79-D829-E1EC0D90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ea typeface="+mj-lt"/>
                <a:cs typeface="+mj-lt"/>
              </a:rPr>
              <a:t>Mark &amp; </a:t>
            </a:r>
            <a:r>
              <a:rPr lang="ru-RU" dirty="0" err="1">
                <a:solidFill>
                  <a:srgbClr val="000000"/>
                </a:solidFill>
                <a:ea typeface="+mj-lt"/>
                <a:cs typeface="+mj-lt"/>
              </a:rPr>
              <a:t>Sweep</a:t>
            </a:r>
            <a:endParaRPr lang="ru-RU" dirty="0" err="1"/>
          </a:p>
        </p:txBody>
      </p:sp>
      <p:pic>
        <p:nvPicPr>
          <p:cNvPr id="7" name="Объект 6" descr="Mark &amp; Sweep GC">
            <a:extLst>
              <a:ext uri="{FF2B5EF4-FFF2-40B4-BE49-F238E27FC236}">
                <a16:creationId xmlns:a16="http://schemas.microsoft.com/office/drawing/2014/main" id="{D4E66A8B-2B26-7B22-AF30-204DFF6BE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901031"/>
            <a:ext cx="102108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1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E9904-BEBF-E9E4-C201-B57380FC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Поколения объектов</a:t>
            </a:r>
            <a:endParaRPr lang="ru-RU"/>
          </a:p>
        </p:txBody>
      </p:sp>
      <p:pic>
        <p:nvPicPr>
          <p:cNvPr id="4" name="Объект 3" descr="Поколения в куче">
            <a:extLst>
              <a:ext uri="{FF2B5EF4-FFF2-40B4-BE49-F238E27FC236}">
                <a16:creationId xmlns:a16="http://schemas.microsoft.com/office/drawing/2014/main" id="{9AB38DBD-8412-2708-397B-F8009F82E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467" y="1825625"/>
            <a:ext cx="103870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7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F2FCA-7360-A621-F2F2-52B85742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Гипотезы о поколениях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288F83-EA88-92E5-1BAB-46623E728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ru-RU" dirty="0"/>
              <a:t>Большинство объектов умирают молодыми (98% объектов становятся мусором вскоре после создания).</a:t>
            </a:r>
          </a:p>
          <a:p>
            <a:pPr marL="514350" indent="-514350">
              <a:buAutoNum type="arabicPeriod"/>
            </a:pPr>
            <a:r>
              <a:rPr lang="ru-RU" dirty="0"/>
              <a:t>Чем дольше объект живет, тем дольше он будет продолжать жить.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627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FFAA0-03DA-46B7-2205-E4D7A8F3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Оптимизированная сборка мусора</a:t>
            </a:r>
          </a:p>
        </p:txBody>
      </p:sp>
      <p:pic>
        <p:nvPicPr>
          <p:cNvPr id="5" name="Объект 4" descr="Изображение выглядит как текст, снимок экрана, Прямоугольник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13D64A-3B9B-6BD3-4E99-757BE6EA3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7556" y="1135708"/>
            <a:ext cx="5014101" cy="56179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D61D47-7ED0-7D60-4432-803CA657273E}"/>
              </a:ext>
            </a:extLst>
          </p:cNvPr>
          <p:cNvSpPr txBox="1"/>
          <p:nvPr/>
        </p:nvSpPr>
        <p:spPr>
          <a:xfrm>
            <a:off x="599818" y="1714498"/>
            <a:ext cx="655606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ru-RU" sz="2400" dirty="0"/>
              <a:t>Новые объекты создаются в </a:t>
            </a:r>
            <a:r>
              <a:rPr lang="ru-RU" sz="2400" err="1"/>
              <a:t>Eden</a:t>
            </a:r>
            <a:r>
              <a:rPr lang="ru-RU" sz="2400" dirty="0"/>
              <a:t>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заполнении </a:t>
            </a:r>
            <a:r>
              <a:rPr lang="ru-RU" sz="2400" err="1"/>
              <a:t>Eden</a:t>
            </a:r>
            <a:r>
              <a:rPr lang="ru-RU" sz="2400" dirty="0"/>
              <a:t> происходит </a:t>
            </a:r>
            <a:r>
              <a:rPr lang="ru-RU" sz="2400" err="1"/>
              <a:t>Minor</a:t>
            </a:r>
            <a:r>
              <a:rPr lang="ru-RU" sz="2400" dirty="0"/>
              <a:t> GC.</a:t>
            </a:r>
          </a:p>
          <a:p>
            <a:pPr marL="342900" indent="-342900">
              <a:buAutoNum type="arabicPeriod"/>
            </a:pPr>
            <a:r>
              <a:rPr lang="ru-RU" sz="2400" dirty="0"/>
              <a:t>Выжившие после </a:t>
            </a:r>
            <a:r>
              <a:rPr lang="ru-RU" sz="2400" err="1"/>
              <a:t>Minor</a:t>
            </a:r>
            <a:r>
              <a:rPr lang="ru-RU" sz="2400" dirty="0"/>
              <a:t> GC объекты перемещаются в S0 (S1).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очередном </a:t>
            </a:r>
            <a:r>
              <a:rPr lang="ru-RU" sz="2400" err="1"/>
              <a:t>Minor</a:t>
            </a:r>
            <a:r>
              <a:rPr lang="ru-RU" sz="2400" dirty="0"/>
              <a:t> GC очищаются </a:t>
            </a:r>
            <a:r>
              <a:rPr lang="ru-RU" sz="2400" err="1"/>
              <a:t>Eden</a:t>
            </a:r>
            <a:r>
              <a:rPr lang="ru-RU" sz="2400" dirty="0"/>
              <a:t> и S0, выжившие объекты переходят в S1, и их возраст увеличивается. S0 и S1 каждый раз меняются местами.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достижении определённого возраста или заполнении S0/S1 выжившие объекты перемещаются в Old.</a:t>
            </a:r>
          </a:p>
          <a:p>
            <a:pPr marL="342900" indent="-342900">
              <a:buAutoNum type="arabicPeriod"/>
            </a:pPr>
            <a:r>
              <a:rPr lang="ru-RU" sz="2400" dirty="0"/>
              <a:t>При заполнении Old происходит Major GC.</a:t>
            </a:r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42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48BA5-A831-E646-481F-39917608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Плюсы и минусы поколений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563E7-7F0B-154F-011D-106B4D055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pPr marL="457200" indent="-457200"/>
            <a:r>
              <a:rPr lang="ru-RU" dirty="0" err="1"/>
              <a:t>Minor</a:t>
            </a:r>
            <a:r>
              <a:rPr lang="ru-RU" dirty="0"/>
              <a:t> GC происходит в меньшей части кучи (~ 2/3 от кучи). Этап маркировки эффективен, потому что область небольшая и состоит в основном из мертвых объектов.</a:t>
            </a:r>
          </a:p>
          <a:p>
            <a:pPr marL="0" indent="0">
              <a:buNone/>
            </a:pPr>
            <a:r>
              <a:rPr lang="ru-RU" dirty="0"/>
              <a:t>Минусы:</a:t>
            </a:r>
          </a:p>
          <a:p>
            <a:r>
              <a:rPr lang="ru-RU" dirty="0"/>
              <a:t>В каждый момент времени одно из пространств </a:t>
            </a:r>
            <a:r>
              <a:rPr lang="ru-RU" err="1"/>
              <a:t>Survivor</a:t>
            </a:r>
            <a:r>
              <a:rPr lang="ru-RU" dirty="0"/>
              <a:t> (S0 или S1) пустое и не используется.</a:t>
            </a:r>
          </a:p>
        </p:txBody>
      </p:sp>
    </p:spTree>
    <p:extLst>
      <p:ext uri="{BB962C8B-B14F-4D97-AF65-F5344CB8AC3E}">
        <p14:creationId xmlns:p14="http://schemas.microsoft.com/office/powerpoint/2010/main" val="315724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C78A7-1DB6-BC0B-A787-F0BAB227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Основные флаги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4EDA880-3F0C-3F51-5A34-5C57D3240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086376"/>
              </p:ext>
            </p:extLst>
          </p:nvPr>
        </p:nvGraphicFramePr>
        <p:xfrm>
          <a:off x="844378" y="1482810"/>
          <a:ext cx="10515600" cy="5087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767650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025190"/>
                    </a:ext>
                  </a:extLst>
                </a:gridCol>
              </a:tblGrid>
              <a:tr h="695591">
                <a:tc>
                  <a:txBody>
                    <a:bodyPr/>
                    <a:lstStyle/>
                    <a:p>
                      <a:r>
                        <a:rPr lang="ru-RU" dirty="0"/>
                        <a:t>Флаг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59145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Xms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Первоначальный размер кучи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948641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Xmx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Максимальный размер кучи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90414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XX:NewRatio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=n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Отношение размера Old Generation к Young Generation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491479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XX:SurvivorRatio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=n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Отношение размера 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Eden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к 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Survivor</a:t>
                      </a:r>
                      <a:endParaRPr lang="ru-RU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50862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XX:MaxTenuringThreshold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=n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Возраст объекта, при котором объект перемещается из области </a:t>
                      </a:r>
                      <a:r>
                        <a:rPr lang="ru-RU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Survivor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в область Old Generation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97465"/>
                  </a:ext>
                </a:extLst>
              </a:tr>
              <a:tr h="6955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Xlog:gc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*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Подробное логирование всех событий сборщика мусора (доступно в Java9+)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63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493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3FCA9-F9CB-DE5F-C87F-9BC98CB1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настройки GC</a:t>
            </a:r>
          </a:p>
        </p:txBody>
      </p:sp>
      <p:pic>
        <p:nvPicPr>
          <p:cNvPr id="4" name="Объект 3" descr="Изображение выглядит как текст, Шрифт, снимок экрана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EA5029-D879-9537-5886-D8398FC2D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662" y="2235994"/>
            <a:ext cx="84486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6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4CA1F-96B5-27C8-97EE-7DCBC19C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</a:t>
            </a:r>
          </a:p>
        </p:txBody>
      </p:sp>
      <p:pic>
        <p:nvPicPr>
          <p:cNvPr id="3" name="Объект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1A4286-5F70-351B-EEE5-C91089AD5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1689894"/>
            <a:ext cx="66040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291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A4560-BA21-53E4-2035-2859E832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Первая </a:t>
            </a:r>
            <a:r>
              <a:rPr lang="ru-RU" dirty="0" err="1"/>
              <a:t>Minor</a:t>
            </a:r>
            <a:r>
              <a:rPr lang="ru-RU" dirty="0"/>
              <a:t>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39D2DB-BA1D-93AD-3E40-67F9198A4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[0.051s][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GC(0)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...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[0.053s][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GC(0)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6-&gt;0(1)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[0.053s][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GC(0)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0-&gt;6(6)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[0.054s][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GC(0)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0-&gt;0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34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EF245-D59B-3088-E845-EFFD6E6A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Вторая </a:t>
            </a:r>
            <a:r>
              <a:rPr lang="ru-RU" dirty="0" err="1"/>
              <a:t>Minor</a:t>
            </a:r>
            <a:r>
              <a:rPr lang="ru-RU" dirty="0"/>
              <a:t> GC + Первая Major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B05282-4AD4-EC32-53AC-327393B5D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[0.054s][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GC(1)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...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[0.055s][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GC(1)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1-&gt;0(5)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[0.055s][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GC(1)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6-&gt;1(7)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[0.055s][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GC(1)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0-&gt;6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4612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F06E8-E8DC-5653-484A-DBC1C0DE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Третья </a:t>
            </a:r>
            <a:r>
              <a:rPr lang="ru-RU" dirty="0" err="1"/>
              <a:t>Minor</a:t>
            </a:r>
            <a:r>
              <a:rPr lang="ru-RU" dirty="0"/>
              <a:t>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990D23-CA7F-B6F9-7902-F2B674A13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[0.056s][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GC(2)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...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GC(2)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5-&gt;0(1)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GC(2)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1-&gt;6(6)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GC(2)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696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1D4C3-652A-217F-8A13-1865046A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Четвёртая </a:t>
            </a:r>
            <a:r>
              <a:rPr lang="ru-RU" dirty="0" err="1"/>
              <a:t>Minor</a:t>
            </a:r>
            <a:r>
              <a:rPr lang="ru-RU" dirty="0"/>
              <a:t> GC + Вторая Major GC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66CA2-70E5-212A-EF2B-CEE2EAA23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</a:rPr>
              <a:t>[0.057s][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gc,start</a:t>
            </a:r>
            <a:r>
              <a:rPr lang="ru-RU" dirty="0">
                <a:ea typeface="+mn-lt"/>
                <a:cs typeface="+mn-lt"/>
              </a:rPr>
              <a:t>     ] GC(3)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 Young (</a:t>
            </a:r>
            <a:r>
              <a:rPr lang="ru-RU" dirty="0" err="1">
                <a:ea typeface="+mn-lt"/>
                <a:cs typeface="+mn-lt"/>
              </a:rPr>
              <a:t>Normal</a:t>
            </a:r>
            <a:r>
              <a:rPr lang="ru-RU" dirty="0">
                <a:ea typeface="+mn-lt"/>
                <a:cs typeface="+mn-lt"/>
              </a:rPr>
              <a:t>) (G1 </a:t>
            </a:r>
            <a:r>
              <a:rPr lang="ru-RU" dirty="0" err="1">
                <a:ea typeface="+mn-lt"/>
                <a:cs typeface="+mn-lt"/>
              </a:rPr>
              <a:t>Evacuation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Pause</a:t>
            </a:r>
            <a:r>
              <a:rPr lang="ru-RU" dirty="0">
                <a:ea typeface="+mn-lt"/>
                <a:cs typeface="+mn-lt"/>
              </a:rPr>
              <a:t>)</a:t>
            </a:r>
          </a:p>
          <a:p>
            <a:r>
              <a:rPr lang="ru-RU" dirty="0">
                <a:ea typeface="+mn-lt"/>
                <a:cs typeface="+mn-lt"/>
              </a:rPr>
              <a:t>...</a:t>
            </a:r>
          </a:p>
          <a:p>
            <a:r>
              <a:rPr lang="ru-RU" dirty="0">
                <a:ea typeface="+mn-lt"/>
                <a:cs typeface="+mn-lt"/>
              </a:rPr>
              <a:t>[0.058s][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GC(3) </a:t>
            </a:r>
            <a:r>
              <a:rPr lang="ru-RU" dirty="0" err="1">
                <a:ea typeface="+mn-lt"/>
                <a:cs typeface="+mn-lt"/>
              </a:rPr>
              <a:t>Eden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1-&gt;0(5)</a:t>
            </a:r>
          </a:p>
          <a:p>
            <a:r>
              <a:rPr lang="ru-RU" dirty="0">
                <a:ea typeface="+mn-lt"/>
                <a:cs typeface="+mn-lt"/>
              </a:rPr>
              <a:t>[0.058s][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GC(3) </a:t>
            </a:r>
            <a:r>
              <a:rPr lang="ru-RU" dirty="0" err="1">
                <a:ea typeface="+mn-lt"/>
                <a:cs typeface="+mn-lt"/>
              </a:rPr>
              <a:t>Survivor</a:t>
            </a:r>
            <a:r>
              <a:rPr lang="ru-RU" dirty="0">
                <a:ea typeface="+mn-lt"/>
                <a:cs typeface="+mn-lt"/>
              </a:rPr>
              <a:t>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6-&gt;1(7)</a:t>
            </a:r>
          </a:p>
          <a:p>
            <a:r>
              <a:rPr lang="ru-RU" dirty="0">
                <a:ea typeface="+mn-lt"/>
                <a:cs typeface="+mn-lt"/>
              </a:rPr>
              <a:t>[0.058s][</a:t>
            </a:r>
            <a:r>
              <a:rPr lang="ru-RU" dirty="0" err="1">
                <a:ea typeface="+mn-lt"/>
                <a:cs typeface="+mn-lt"/>
              </a:rPr>
              <a:t>info</a:t>
            </a:r>
            <a:r>
              <a:rPr lang="ru-RU" dirty="0">
                <a:ea typeface="+mn-lt"/>
                <a:cs typeface="+mn-lt"/>
              </a:rPr>
              <a:t>][</a:t>
            </a:r>
            <a:r>
              <a:rPr lang="ru-RU" dirty="0" err="1">
                <a:ea typeface="+mn-lt"/>
                <a:cs typeface="+mn-lt"/>
              </a:rPr>
              <a:t>gc,heap</a:t>
            </a:r>
            <a:r>
              <a:rPr lang="ru-RU" dirty="0">
                <a:ea typeface="+mn-lt"/>
                <a:cs typeface="+mn-lt"/>
              </a:rPr>
              <a:t>      ] GC(3) Old </a:t>
            </a:r>
            <a:r>
              <a:rPr lang="ru-RU" dirty="0" err="1">
                <a:ea typeface="+mn-lt"/>
                <a:cs typeface="+mn-lt"/>
              </a:rPr>
              <a:t>regions</a:t>
            </a:r>
            <a:r>
              <a:rPr lang="ru-RU" dirty="0">
                <a:ea typeface="+mn-lt"/>
                <a:cs typeface="+mn-lt"/>
              </a:rPr>
              <a:t>: 6-&gt;12</a:t>
            </a:r>
          </a:p>
        </p:txBody>
      </p:sp>
    </p:spTree>
    <p:extLst>
      <p:ext uri="{BB962C8B-B14F-4D97-AF65-F5344CB8AC3E}">
        <p14:creationId xmlns:p14="http://schemas.microsoft.com/office/powerpoint/2010/main" val="331840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02E5DA2-BC9D-F1BD-0C9C-85ACC35FE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930144"/>
              </p:ext>
            </p:extLst>
          </p:nvPr>
        </p:nvGraphicFramePr>
        <p:xfrm>
          <a:off x="0" y="0"/>
          <a:ext cx="12179636" cy="6842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157">
                  <a:extLst>
                    <a:ext uri="{9D8B030D-6E8A-4147-A177-3AD203B41FA5}">
                      <a16:colId xmlns:a16="http://schemas.microsoft.com/office/drawing/2014/main" val="857833250"/>
                    </a:ext>
                  </a:extLst>
                </a:gridCol>
                <a:gridCol w="2742092">
                  <a:extLst>
                    <a:ext uri="{9D8B030D-6E8A-4147-A177-3AD203B41FA5}">
                      <a16:colId xmlns:a16="http://schemas.microsoft.com/office/drawing/2014/main" val="1532371649"/>
                    </a:ext>
                  </a:extLst>
                </a:gridCol>
                <a:gridCol w="2671139">
                  <a:extLst>
                    <a:ext uri="{9D8B030D-6E8A-4147-A177-3AD203B41FA5}">
                      <a16:colId xmlns:a16="http://schemas.microsoft.com/office/drawing/2014/main" val="2364643101"/>
                    </a:ext>
                  </a:extLst>
                </a:gridCol>
                <a:gridCol w="2233624">
                  <a:extLst>
                    <a:ext uri="{9D8B030D-6E8A-4147-A177-3AD203B41FA5}">
                      <a16:colId xmlns:a16="http://schemas.microsoft.com/office/drawing/2014/main" val="67184587"/>
                    </a:ext>
                  </a:extLst>
                </a:gridCol>
                <a:gridCol w="2233624">
                  <a:extLst>
                    <a:ext uri="{9D8B030D-6E8A-4147-A177-3AD203B41FA5}">
                      <a16:colId xmlns:a16="http://schemas.microsoft.com/office/drawing/2014/main" val="2779573301"/>
                    </a:ext>
                  </a:extLst>
                </a:gridCol>
              </a:tblGrid>
              <a:tr h="588743">
                <a:tc>
                  <a:txBody>
                    <a:bodyPr/>
                    <a:lstStyle/>
                    <a:p>
                      <a:r>
                        <a:rPr lang="ru-RU" dirty="0"/>
                        <a:t>Сборщик мусора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dirty="0"/>
                        <a:t>Флаг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877667"/>
                  </a:ext>
                </a:extLst>
              </a:tr>
              <a:tr h="1638935">
                <a:tc>
                  <a:txBody>
                    <a:bodyPr/>
                    <a:lstStyle/>
                    <a:p>
                      <a:r>
                        <a:rPr lang="ru-RU" dirty="0" err="1"/>
                        <a:t>Serial</a:t>
                      </a:r>
                      <a:r>
                        <a:rPr lang="ru-RU" dirty="0"/>
                        <a:t>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Простота, эффективность для малых приложений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Низкая производительность на многопроцессорных системах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Малые приложения, ограниченные ресурсы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UseSerialGC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911046"/>
                  </a:ext>
                </a:extLst>
              </a:tr>
              <a:tr h="12252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Parallel</a:t>
                      </a: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 пропускная способность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Длинные паузы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err="1"/>
                        <a:t>Cерверные</a:t>
                      </a:r>
                      <a:r>
                        <a:rPr lang="ru-RU" dirty="0"/>
                        <a:t> приложения, многопроцессорные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UseParallelGC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451637"/>
                  </a:ext>
                </a:extLst>
              </a:tr>
              <a:tr h="938807">
                <a:tc>
                  <a:txBody>
                    <a:bodyPr/>
                    <a:lstStyle/>
                    <a:p>
                      <a:r>
                        <a:rPr lang="ru-RU" dirty="0"/>
                        <a:t>CMS</a:t>
                      </a:r>
                    </a:p>
                    <a:p>
                      <a:pPr lvl="0">
                        <a:buNone/>
                      </a:pP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Низкие паузы GC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Возможная фрагментация памяти, сложность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Интерактивные приложения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UseConcMarkSweepGC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372213"/>
                  </a:ext>
                </a:extLst>
              </a:tr>
              <a:tr h="1225224">
                <a:tc>
                  <a:txBody>
                    <a:bodyPr/>
                    <a:lstStyle/>
                    <a:p>
                      <a:r>
                        <a:rPr lang="ru-RU" dirty="0"/>
                        <a:t>G1 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Баланс между производительностью и задержкой, масштабируемость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Может требовать тонкой настройки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Большие серверные приложения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-XX:+UseG1GC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101111"/>
                  </a:ext>
                </a:extLst>
              </a:tr>
              <a:tr h="12252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ZGC/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Shenandoah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Минимальные паузы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Новизна, потенциальные ограничения в использовании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Приложения с требованиями к ультранизкой задержке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UseZGC</a:t>
                      </a:r>
                      <a:endParaRPr lang="ru-RU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-XX:+</a:t>
                      </a:r>
                      <a:r>
                        <a:rPr lang="ru-RU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UseShenandoahGC</a:t>
                      </a:r>
                      <a:endParaRPr lang="ru-RU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54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0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A7B33-8A66-37BF-79C0-DE524504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 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A092B-7978-9A0A-BF4C-320D78E57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Настроить GC для веб-серверного приложения, где приоритетом является минимизация времени остановки для низкой задержки.</a:t>
            </a:r>
          </a:p>
          <a:p>
            <a:r>
              <a:rPr lang="ru-RU" dirty="0"/>
              <a:t>Код:</a:t>
            </a:r>
          </a:p>
          <a:p>
            <a:endParaRPr lang="ru-RU" dirty="0"/>
          </a:p>
        </p:txBody>
      </p:sp>
      <p:pic>
        <p:nvPicPr>
          <p:cNvPr id="6" name="Рисунок 5" descr="Изображение выглядит как текст, Шрифт, снимок экрана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D614AA-D62E-1A9A-BD36-8687C55BF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075" y="3886200"/>
            <a:ext cx="6661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37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A100E-CF27-AE41-B1D9-AD943EE3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D47DC2-D277-9F91-6E20-696143E67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Настроить GC для приложения обработки больших данных, где важна общая пропускная способность и эффективность использования памяти.</a:t>
            </a:r>
          </a:p>
          <a:p>
            <a:r>
              <a:rPr lang="ru-RU" dirty="0"/>
              <a:t>Код:</a:t>
            </a:r>
          </a:p>
          <a:p>
            <a:endParaRPr lang="ru-RU" dirty="0"/>
          </a:p>
        </p:txBody>
      </p:sp>
      <p:pic>
        <p:nvPicPr>
          <p:cNvPr id="6" name="Рисунок 5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C03215-2308-F96D-7ADF-5BA8F6CDA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25" y="3871913"/>
            <a:ext cx="7219950" cy="230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35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99AF3-EFA9-39BC-8F00-CAAED445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Утечка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BA7F6C-CB1E-5597-D4DB-6E3606E3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74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Причины:</a:t>
            </a:r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Неправильное управление ресурсами</a:t>
            </a:r>
          </a:p>
          <a:p>
            <a:r>
              <a:rPr lang="ru-RU" dirty="0">
                <a:solidFill>
                  <a:srgbClr val="000000"/>
                </a:solidFill>
              </a:rPr>
              <a:t>Статические коллекции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E2DC0-1683-2F2B-D915-C49C69494F8A}"/>
              </a:ext>
            </a:extLst>
          </p:cNvPr>
          <p:cNvSpPr txBox="1"/>
          <p:nvPr/>
        </p:nvSpPr>
        <p:spPr>
          <a:xfrm>
            <a:off x="6508750" y="1825625"/>
            <a:ext cx="5429250" cy="19025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ru-RU" sz="2800" dirty="0"/>
              <a:t>Решения:</a:t>
            </a:r>
            <a:endParaRPr lang="en-US" sz="28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800" dirty="0"/>
              <a:t>Профилирование памяти</a:t>
            </a:r>
            <a:endParaRPr lang="en-US" sz="28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800" dirty="0"/>
              <a:t>Использование </a:t>
            </a:r>
            <a:r>
              <a:rPr lang="ru-RU" sz="2800" dirty="0" err="1"/>
              <a:t>Weak</a:t>
            </a:r>
            <a:r>
              <a:rPr lang="ru-RU" sz="2800" dirty="0"/>
              <a:t> </a:t>
            </a:r>
            <a:r>
              <a:rPr lang="ru-RU" sz="2800" dirty="0" err="1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59960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43C46-6F4F-E586-F76A-1471E849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1</a:t>
            </a:r>
          </a:p>
        </p:txBody>
      </p:sp>
      <p:pic>
        <p:nvPicPr>
          <p:cNvPr id="7" name="Объект 6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D131A4-E40A-CF75-0166-30169D9C5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142" y="1500080"/>
            <a:ext cx="8098308" cy="517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38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DC1EAC-327F-4380-E3BC-703D0F23F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450" y="1175201"/>
            <a:ext cx="11123397" cy="39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1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F0CB8-15DB-9EB9-CE4B-0859108B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Исправленный пример</a:t>
            </a: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CA638E-E3FF-0C7C-3D82-EA14606A4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0" y="1561307"/>
            <a:ext cx="8763000" cy="476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72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197258-0B90-AFC1-B46E-D8837EA67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1712" y="389731"/>
            <a:ext cx="5121275" cy="60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89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F8286-5087-C905-3C10-1DA4B7F2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2</a:t>
            </a:r>
          </a:p>
        </p:txBody>
      </p:sp>
      <p:pic>
        <p:nvPicPr>
          <p:cNvPr id="8" name="Объект 7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6BAFA5-6F36-AE9B-9402-AE5A6F3FB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525" y="1715294"/>
            <a:ext cx="963295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28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E9799-AD67-E857-3756-FA3C96D0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Источники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6D6B4C-F509-A692-7CC5-5D9F2B566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ea typeface="+mn-lt"/>
                <a:cs typeface="+mn-lt"/>
                <a:hlinkClick r:id="rId2"/>
              </a:rPr>
              <a:t>https://habr.com/ru/companies/otus/articles/553996/</a:t>
            </a:r>
            <a:endParaRPr lang="ru-RU"/>
          </a:p>
          <a:p>
            <a:r>
              <a:rPr lang="ru-RU" dirty="0">
                <a:ea typeface="+mn-lt"/>
                <a:cs typeface="+mn-lt"/>
                <a:hlinkClick r:id="rId3"/>
              </a:rPr>
              <a:t>https://habr.com/ru/companies/otus/articles/776342/</a:t>
            </a:r>
          </a:p>
          <a:p>
            <a:r>
              <a:rPr lang="ru-RU" dirty="0">
                <a:ea typeface="+mn-lt"/>
                <a:cs typeface="+mn-lt"/>
                <a:hlinkClick r:id="rId4"/>
              </a:rPr>
              <a:t>https://javarush.com/groups/posts/4075-kofe-breyk-210-vse-tipih-sborjshikov-musora-v-java-o-kotorihkh-vih-dolzhnih-znatjh</a:t>
            </a:r>
          </a:p>
          <a:p>
            <a:r>
              <a:rPr lang="ru-RU" dirty="0">
                <a:ea typeface="+mn-lt"/>
                <a:cs typeface="+mn-lt"/>
                <a:hlinkClick r:id="rId5"/>
              </a:rPr>
              <a:t>https://javarush.com/quests/lectures/questservlets.level18.lecture05</a:t>
            </a:r>
          </a:p>
          <a:p>
            <a:endParaRPr lang="ru-RU" dirty="0">
              <a:ea typeface="+mn-lt"/>
              <a:cs typeface="+mn-lt"/>
            </a:endParaRPr>
          </a:p>
          <a:p>
            <a:endParaRPr lang="ru-RU" dirty="0">
              <a:ea typeface="+mn-lt"/>
              <a:cs typeface="+mn-lt"/>
            </a:endParaRPr>
          </a:p>
          <a:p>
            <a:endParaRPr lang="ru-RU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6016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Office Theme</vt:lpstr>
      <vt:lpstr>Сборщик мусора</vt:lpstr>
      <vt:lpstr>Что такое мусор</vt:lpstr>
      <vt:lpstr>Структура памяти Java</vt:lpstr>
      <vt:lpstr>Mark &amp; Sweep</vt:lpstr>
      <vt:lpstr>Поколения объектов</vt:lpstr>
      <vt:lpstr>Гипотезы о поколениях</vt:lpstr>
      <vt:lpstr>Оптимизированная сборка мусора</vt:lpstr>
      <vt:lpstr>Плюсы и минусы поколений</vt:lpstr>
      <vt:lpstr>Основные флаги</vt:lpstr>
      <vt:lpstr>Пример настройки GC</vt:lpstr>
      <vt:lpstr>Пример</vt:lpstr>
      <vt:lpstr>Первая Minor GC</vt:lpstr>
      <vt:lpstr>Вторая Minor GC + Первая Major GC</vt:lpstr>
      <vt:lpstr>Третья Minor GC</vt:lpstr>
      <vt:lpstr>Четвёртая Minor GC + Вторая Major GC</vt:lpstr>
      <vt:lpstr>Презентация PowerPoint</vt:lpstr>
      <vt:lpstr>Пример 1</vt:lpstr>
      <vt:lpstr>Пример 2</vt:lpstr>
      <vt:lpstr>Утечка памяти</vt:lpstr>
      <vt:lpstr>Пример 1</vt:lpstr>
      <vt:lpstr>Презентация PowerPoint</vt:lpstr>
      <vt:lpstr>Исправленный пример</vt:lpstr>
      <vt:lpstr>Презентация PowerPoint</vt:lpstr>
      <vt:lpstr>Пример 2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551</cp:revision>
  <dcterms:created xsi:type="dcterms:W3CDTF">2025-12-03T16:59:17Z</dcterms:created>
  <dcterms:modified xsi:type="dcterms:W3CDTF">2025-12-06T08:45:46Z</dcterms:modified>
</cp:coreProperties>
</file>